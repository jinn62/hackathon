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1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092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저희는 풍력 터빈 블레이드의 손상을 AI로 미리 잡아내는 예방 정비 서비스를 만들었습니다. 4일간의 일지를 순서대로 펼쳐보겠습니다.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순서가 곧 프로젝트 타임라인입니다. 각자 맡은 구간의 일지를 이어서 발표하겠습니다.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데이터를 열어보니 두 가지가 심상치 않았습니다. 클래스 불균형이 1:15, 그리고 손상 대부분이 아주 작은 객체였습니다. 이 두 발견이 이후 모든 결정의 출발점이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외부 데이터를 코드로 직접 해시 비교했더니 두 개가 기존 데이터와 완전히 겹쳤습니다. '유명한 데이터셋이니 다르겠지'라고 넘어갔으면 데이터 누수라는 대형사고가 났을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못 잡는 것과 잘못 잡는 것, 어느 쪽이 비쌀까요? 미탐지는 사고로 직결되지만 오탐은 재확인하면 됩니다. 그래서 Recall을 1순위로 정했고, 이 기준이 나중에 서비스의 위험도 공식까지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4개 모델을 같은 조건에서 겨루게 했고 YOLOv8s가 전 지표 1위였습니다. conf 최적화는 단순 튜닝이 아니라 평가 함수의 동작 원리를 이해한 결과였습니다. 최종 Recall 0.769, 목표를 넘겼습니다.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누군가는 먼저 판을 깔아야 합니다. 팀 전체가 올라탈 수 있는 학습 파이프라인을 만들고, 클래스 비율이 깨지지 않게 데이터를 분할했습니다.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부족한 Dirt를 보강했더니 엉뚱하게 Damage 성능이 떨어졌습니다. 클래스끼리 경쟁한다는 걸 실험으로 확인했고, 균형 조정이 얼마나 예민한 작업인지 배웠습니다. 채진현의 증강 역효과 실험과 같은 결론으로, 서로 교차 검증된 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포기하지 않고 세 가지 개선 실험을 돌렸고, 다음 단계를 위해 대안 모델들도 조사해뒀습니다. Damage Recall 향상이 앞으로의 최우선 과제입니다.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데이터를 더하면 무조건 좋아진다? 저희 실험에서는 전부 틀렸습니다. 증강도, 외부 데이터도 다 역효과였고 순수 원본이 가장 강했습니다. 직관이 아니라 실험이 답을 줬습니다.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모델을 코드로만 두지 않고 FastAPI 웹 데모로도 만들어봤습니다. 특히 터빈 여러 대를 한눈에 보는 '플릿 뷰'는 실제 운영 관점의 아이디어였습니다.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모델이 좋아도 제품이 아니면 의미가 없습니다. '예방 정비 서비스'라는 방향을 정하고, 어떤 기능이 있어야 팔리는 물건이 되는지부터 그렸습니다.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탐지 결과를 '그래서 얼마나 위험한데?'로 번역하는 기준을 설계했습니다. 같은 손상이라도 날개 뿌리면 더 위험하고, 갑자기 커지면 등급을 올리는 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조각이 아니라 전체가 돌아가는지 확인하고 싶었습니다. 탐지부터 알림까지 하나로 묶었고, 제 폰에서 실제로 경보가 울렸을 때 — 이 서비스가 진짜가 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유튜브 영상을 넣어봤더니 하나도 못 잡았습니다. 학습 데이터와 다른 환경에선 무력하다는 한계를 확인했고, 대신 검증 가능한 테스트 영상을 직접 만들어 시연을 준비했습니다.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 피드백이 실제 기능 두 개로 태어났습니다. 만들고, 검증하고, 피드백하는 순환이 저희 팀의 작동 방식이었습니다.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서비스의 기능표는 곧 저희 팀의 회의록입니다. 누가 어떤 피드백을 줬고 그게 어떤 기능이 됐는지가 그대로 남아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모델이 완벽하지 않다는 걸 알기에, 애매한 탐지는 사람이 재확인하도록 설계했습니다. 모델의 한계를 제품이 받쳐주는 구조입니다.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탐지 결과를 보여주는 걸 넘어, 관리자가 아침에 열어서 '오늘 뭐부터 볼지' 바로 아는 화면을 목표로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말보다 화면입니다. 정상부터 위험까지, 등급이 올라갈수록 시스템이 어떻게 반응하는지 직접 보여드리겠습니다. (시연: normal → dirt → damage, 동영상 타임랩스, 이력 불러오기, 자동 푸시 수신)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저희는 한계를 숨기지 않았습니다. 대신 한계를 알고, 실험으로 검증하고, 설계로 보완했습니다. 터빈일지의 다음 페이지도 기대해주세요. 감사합니다!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A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4069080" y="50292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나의 터빈일지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B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“터빈이 아프기 전에 알려드립니다”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C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풍력 터빈 블레이드 손상 탐지 · 예방 정비 서비스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103120" y="3931920"/>
            <a:ext cx="4937760" cy="566928"/>
          </a:xfrm>
          <a:prstGeom prst="roundRect">
            <a:avLst>
              <a:gd name="adj" fmla="val 50000"/>
            </a:avLst>
          </a:prstGeom>
          <a:solidFill>
            <a:srgbClr val="0E5A85"/>
          </a:solidFill>
          <a:ln/>
        </p:spPr>
      </p:sp>
      <p:sp>
        <p:nvSpPr>
          <p:cNvPr id="7" name="Text 4"/>
          <p:cNvSpPr/>
          <p:nvPr/>
        </p:nvSpPr>
        <p:spPr>
          <a:xfrm>
            <a:off x="2103120" y="39319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2  ·  강경수  이근목  정슬기  채진현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B6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07. 03  DLthon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STORYLINE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4일간의 일지 — 발표도 이 순서로 갑니다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572768" cy="2514600"/>
          </a:xfrm>
          <a:prstGeom prst="roundRect">
            <a:avLst>
              <a:gd name="adj" fmla="val 4651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1801368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94767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4688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27432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 회의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3246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“고장, 미리 알 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없을까?”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37947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4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전원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002536" y="269748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21408" y="1600200"/>
            <a:ext cx="1572768" cy="2514600"/>
          </a:xfrm>
          <a:prstGeom prst="roundRect">
            <a:avLst>
              <a:gd name="adj" fmla="val 4651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06040" y="1801368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344" y="194767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21408" y="24688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1~2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167128" y="27432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뜯어보다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167128" y="3246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· 검증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선정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121408" y="37947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4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채진현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666744" y="269748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785616" y="1600200"/>
            <a:ext cx="1572768" cy="2514600"/>
          </a:xfrm>
          <a:prstGeom prst="roundRect">
            <a:avLst>
              <a:gd name="adj" fmla="val 4651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270248" y="1801368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1947672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785616" y="24688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2~3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3831336" y="27432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굴려보다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831336" y="3246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· 개선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3785616" y="37947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4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이근목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5330952" y="269748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449824" y="1600200"/>
            <a:ext cx="1572768" cy="2514600"/>
          </a:xfrm>
          <a:prstGeom prst="roundRect">
            <a:avLst>
              <a:gd name="adj" fmla="val 4651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934456" y="1801368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1947672"/>
            <a:ext cx="310896" cy="31089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49824" y="24688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2~3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495544" y="27432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제품으로 그려보다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495544" y="3246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· 통합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5449824" y="37947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4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정슬기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6995160" y="269748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7114032" y="1600200"/>
            <a:ext cx="1572768" cy="2514600"/>
          </a:xfrm>
          <a:prstGeom prst="roundRect">
            <a:avLst>
              <a:gd name="adj" fmla="val 4651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7598664" y="1801368"/>
            <a:ext cx="603504" cy="603504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4968" y="1947672"/>
            <a:ext cx="310896" cy="310896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114032" y="24688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3~4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7159752" y="27432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서비스로 완성하다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7159752" y="3246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· 알림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7114032" y="37947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4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강경수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457200" y="452628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B4A6F"/>
          </a:solidFill>
          <a:ln/>
        </p:spPr>
      </p:sp>
      <p:sp>
        <p:nvSpPr>
          <p:cNvPr id="44" name="Text 37"/>
          <p:cNvSpPr/>
          <p:nvPr/>
        </p:nvSpPr>
        <p:spPr>
          <a:xfrm>
            <a:off x="685800" y="4526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 → 데이터 → 모델 → 제품 → 서비스, 그리고 오늘 — 시연합니다 🎬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데이터 분석 &amp; 모델 선정 — 채진현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첫인상: “</a:t>
            </a:r>
            <a:r>
              <a:rPr lang="en-US" sz="2700" b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숫자가</a:t>
            </a: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심상치 않은</a:t>
            </a:r>
            <a:r>
              <a:rPr lang="en-US" sz="2700" b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데요</a:t>
            </a: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79192" cy="2651760"/>
          </a:xfrm>
          <a:prstGeom prst="roundRect">
            <a:avLst>
              <a:gd name="adj" fmla="val 2759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19138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37744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4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13,470장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94360" y="3035808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이미지 (586×371)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4360" y="352044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22.2% vs 정상 77.8%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36976" y="1554480"/>
            <a:ext cx="2679192" cy="2651760"/>
          </a:xfrm>
          <a:prstGeom prst="roundRect">
            <a:avLst>
              <a:gd name="adj" fmla="val 2759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65576" y="1783080"/>
            <a:ext cx="502920" cy="502920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6335" y="19138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74136" y="237744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4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: 15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3374136" y="3035808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 : Damage 극단적 불균형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374136" y="352044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mAP50이 왜곡됨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Damage 별도 추적 필요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16752" y="1554480"/>
            <a:ext cx="2679192" cy="2651760"/>
          </a:xfrm>
          <a:prstGeom prst="roundRect">
            <a:avLst>
              <a:gd name="adj" fmla="val 2759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45352" y="1783080"/>
            <a:ext cx="502920" cy="502920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6111" y="191383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53912" y="237744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4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86%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6153912" y="3035808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Damage가 64px 이하 소형 객체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153912" y="352044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multi-scale head 필수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conf 낮추는 전략 수립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452628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B4A6F"/>
          </a:solidFill>
          <a:ln/>
        </p:spPr>
      </p:sp>
      <p:sp>
        <p:nvSpPr>
          <p:cNvPr id="23" name="Text 18"/>
          <p:cNvSpPr/>
          <p:nvPr/>
        </p:nvSpPr>
        <p:spPr>
          <a:xfrm>
            <a:off x="685800" y="4526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두 발견(불균형 · 소형 객체)이 </a:t>
            </a:r>
            <a:r>
              <a:rPr lang="en-US" sz="12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ko-KR" sz="12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지표·모델·추론</a:t>
            </a:r>
            <a:r>
              <a:rPr lang="ko-KR" altLang="ko-KR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설계의 출발점</a:t>
            </a:r>
            <a:endParaRPr lang="en-US" sz="125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데이터 분석 &amp; 모델 선정 — 채진현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탐정 모드: 외부 데이터 해시 비교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86400" cy="713232"/>
          </a:xfrm>
          <a:prstGeom prst="roundRect">
            <a:avLst>
              <a:gd name="adj" fmla="val 8974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1907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 Turbine v1i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43000" y="1892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NordTank와 100% 중복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17720" y="169164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</p:sp>
      <p:sp>
        <p:nvSpPr>
          <p:cNvPr id="9" name="Text 6"/>
          <p:cNvSpPr/>
          <p:nvPr/>
        </p:nvSpPr>
        <p:spPr>
          <a:xfrm>
            <a:off x="4617720" y="16916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331720"/>
            <a:ext cx="5486400" cy="713232"/>
          </a:xfrm>
          <a:prstGeom prst="roundRect">
            <a:avLst>
              <a:gd name="adj" fmla="val 8974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4203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 Turbine v11i (DTU)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43000" y="27157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NordTank와 100% 중복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17720" y="251460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</p:sp>
      <p:sp>
        <p:nvSpPr>
          <p:cNvPr id="15" name="Text 11"/>
          <p:cNvSpPr/>
          <p:nvPr/>
        </p:nvSpPr>
        <p:spPr>
          <a:xfrm>
            <a:off x="4617720" y="25146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3154680"/>
            <a:ext cx="5486400" cy="713232"/>
          </a:xfrm>
          <a:prstGeom prst="roundRect">
            <a:avLst>
              <a:gd name="adj" fmla="val 8974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6499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 Turbine Blade v7i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43000" y="3538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신규 데이터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17720" y="333756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21" name="Text 16"/>
          <p:cNvSpPr/>
          <p:nvPr/>
        </p:nvSpPr>
        <p:spPr>
          <a:xfrm>
            <a:off x="4617720" y="33375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편입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172200" y="1508760"/>
            <a:ext cx="2514600" cy="2359152"/>
          </a:xfrm>
          <a:prstGeom prst="roundRect">
            <a:avLst>
              <a:gd name="adj" fmla="val 3101"/>
            </a:avLst>
          </a:prstGeom>
          <a:solidFill>
            <a:srgbClr val="FDECE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737360"/>
            <a:ext cx="45720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09360" y="2286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없이 썼다면?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309360" y="26517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</a:t>
            </a:r>
            <a:r>
              <a:rPr lang="en-US" altLang="ko-KR" sz="115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</a:t>
            </a:r>
            <a:r>
              <a:rPr lang="en-US" altLang="ko-KR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이미지와 겹쳐 </a:t>
            </a:r>
            <a:endParaRPr lang="en-US" altLang="ko-KR" sz="1150" dirty="0">
              <a:solidFill>
                <a:srgbClr val="1E293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altLang="ko-KR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</a:t>
            </a:r>
            <a:r>
              <a:rPr lang="ko-KR" alt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섞임 → 누수</a:t>
            </a:r>
            <a:endParaRPr lang="en-US" altLang="ko-KR" sz="1150" dirty="0">
              <a:solidFill>
                <a:srgbClr val="1E293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</a:rPr>
              <a:t>검증 점수 왜곡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57200" y="452628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B4A6F"/>
          </a:solidFill>
          <a:ln/>
        </p:spPr>
      </p:sp>
      <p:sp>
        <p:nvSpPr>
          <p:cNvPr id="27" name="Text 21"/>
          <p:cNvSpPr/>
          <p:nvPr/>
        </p:nvSpPr>
        <p:spPr>
          <a:xfrm>
            <a:off x="685800" y="4526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ko-KR" alt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</a:t>
            </a:r>
            <a:r>
              <a:rPr lang="ko-KR" altLang="en-US" sz="12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데이터셋이니</a:t>
            </a:r>
            <a:r>
              <a:rPr lang="ko-KR" alt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새롭겠지</a:t>
            </a: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 대신 — </a:t>
            </a:r>
            <a:r>
              <a:rPr lang="ko-KR" alt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</a:t>
            </a: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sz="12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</a:t>
            </a: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</a:t>
            </a:r>
            <a:r>
              <a:rPr lang="en-US" sz="12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</a:t>
            </a: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습관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데이터 분석 &amp; 모델 선정 — 채진현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나침반: 왜 Recall이 1순위인가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DECE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73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 — 미탐지 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→ 정상 판정 → 파손 방치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수억 원 손실 / 안전사고 직결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5087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AF7F0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673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 — 오탐지 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20574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→ 결함 판정 → 재확인 한 번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human-in-the-loop로 관리 가능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2679192" cy="868680"/>
          </a:xfrm>
          <a:prstGeom prst="roundRect">
            <a:avLst>
              <a:gd name="adj" fmla="val 8421"/>
            </a:avLst>
          </a:prstGeom>
          <a:solidFill>
            <a:srgbClr val="0B4A6F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447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FD3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68503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  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874520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미탐지 = 사고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36976" y="3337560"/>
            <a:ext cx="2679192" cy="868680"/>
          </a:xfrm>
          <a:prstGeom prst="roundRect">
            <a:avLst>
              <a:gd name="adj" fmla="val 8421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19856" y="3447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2순위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19856" y="368503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Damage AP50   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28032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클래스 추적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16752" y="3337560"/>
            <a:ext cx="2679192" cy="868680"/>
          </a:xfrm>
          <a:prstGeom prst="roundRect">
            <a:avLst>
              <a:gd name="adj" fmla="val 8421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99632" y="3447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9632" y="368503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mAP50   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34072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불균형에서 왜곡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452628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B4A6F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526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지표 설계가 → 서비스 위험도 가중치(Damage=10, Dirt의 5배)로 그대로 이식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데이터 분석 &amp; 모델 선정 — 채진현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선택: YOLOv8s + conf 0.20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4846320" cy="19202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mAP50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Recall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Precision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YOLOv8n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0.794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0.747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YOLOv8s 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0.854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YOLO11n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0.788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0.741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YOLO11s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0.799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0.746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0.851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57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1000" i="1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</a:rPr>
              <a:t>4종 각 20 </a:t>
            </a:r>
            <a:r>
              <a:rPr lang="ko-KR" altLang="ko-KR" sz="1000" i="1" dirty="0" err="1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</a:rPr>
              <a:t>epoch</a:t>
            </a:r>
            <a:r>
              <a:rPr lang="ko-KR" altLang="ko-KR" sz="1000" i="1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</a:rPr>
              <a:t> · 동일 조건 학습 후 비교 — YOLOv8s 전 지표 1위</a:t>
            </a:r>
            <a:endParaRPr lang="en-US" sz="1000" i="1" dirty="0">
              <a:solidFill>
                <a:srgbClr val="5B6B7A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577840" y="1554480"/>
            <a:ext cx="3108960" cy="2651760"/>
          </a:xfrm>
          <a:prstGeom prst="roundRect">
            <a:avLst>
              <a:gd name="adj" fmla="val 3103"/>
            </a:avLst>
          </a:prstGeom>
          <a:solidFill>
            <a:srgbClr val="0B4A6F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0644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D3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결과 (Epoch 50)</a:t>
            </a:r>
            <a:endParaRPr lang="en-US" sz="1100" dirty="0"/>
          </a:p>
        </p:txBody>
      </p:sp>
      <p:sp>
        <p:nvSpPr>
          <p:cNvPr id="4" name="Text 5"/>
          <p:cNvSpPr/>
          <p:nvPr/>
        </p:nvSpPr>
        <p:spPr>
          <a:xfrm>
            <a:off x="5806440" y="2057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0.769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806440" y="2514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0.70+  달성 ✅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806440" y="2880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Damage AP50 0.688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806440" y="3291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B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r>
              <a:rPr lang="en-US" sz="1050" dirty="0">
                <a:solidFill>
                  <a:srgbClr val="B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0.60+  달성 ✅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806440" y="3703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D3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conf=0.20 — val() 동작 원리 분석으로 확정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452628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B4A6F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4526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 0.20~0.25 구간에 진짜 결함(TP) </a:t>
            </a:r>
            <a:r>
              <a:rPr lang="en-US" sz="12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존재</a:t>
            </a: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(+0.012)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학습 실험 &amp; 프로토타입 — 이근목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판을 깔다: 팀의 공통 베이스라인 구축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91640"/>
            <a:ext cx="502920" cy="502920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" y="18223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642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YOLOv8 학습 파이프라인 베이스라인 코드 작성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197510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T4급 GPU 환경(Jupyter/Colab)에서 바로 도는 학습 스크립트·설정 구성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46888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606040"/>
            <a:ext cx="502920" cy="502920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" y="27367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5786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Stratified Split으로 데이터 분할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371600" y="288950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train/val/test에서 클래스 비율이 깨지지 않도록 유지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38328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3520440"/>
            <a:ext cx="502920" cy="502920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127" y="365119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4930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모든 팀 실험의 공통 기반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71600" y="380390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증강 실험, 모델 비교, 서비스 연동이 모두 이 위에서 진행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452628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B4A6F"/>
          </a:solidFill>
          <a:ln/>
        </p:spPr>
      </p:sp>
      <p:sp>
        <p:nvSpPr>
          <p:cNvPr id="20" name="Text 15"/>
          <p:cNvSpPr/>
          <p:nvPr/>
        </p:nvSpPr>
        <p:spPr>
          <a:xfrm>
            <a:off x="685800" y="4526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누군가는 먼저 판을 깔아야 한다 — 팀 전체가 올라탈 수 있는 기반 마련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학습 실험 &amp; 프로토타입 — 이근목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못 한 복병: 클래스 경쟁 (Class Competition)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017520" cy="1737360"/>
          </a:xfrm>
          <a:prstGeom prst="roundRect">
            <a:avLst>
              <a:gd name="adj" fmla="val 4737"/>
            </a:avLst>
          </a:prstGeom>
          <a:solidFill>
            <a:srgbClr val="EAF7F0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9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 보강 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적은 오염(Dirt)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클래스에 가중치·증강 적용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94760" y="2331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6167"/>
                </a:solidFill>
              </a:rPr>
              <a:t>➡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0" y="1691640"/>
            <a:ext cx="3017520" cy="1737360"/>
          </a:xfrm>
          <a:prstGeom prst="roundRect">
            <a:avLst>
              <a:gd name="adj" fmla="val 4737"/>
            </a:avLst>
          </a:prstGeom>
          <a:solidFill>
            <a:srgbClr val="FDECE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Damage Recall 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엉뚱하게 핵심 클래스의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재현율이 떨어짐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6949440" cy="594360"/>
          </a:xfrm>
          <a:prstGeom prst="roundRect">
            <a:avLst>
              <a:gd name="adj" fmla="val 10769"/>
            </a:avLst>
          </a:prstGeom>
          <a:solidFill>
            <a:srgbClr val="F5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703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한쪽을 도우면 다른 쪽이 약해지는 시소 관계  ·  </a:t>
            </a:r>
            <a:r>
              <a:rPr lang="en-US" sz="11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채진현 파트의 '증강 역효과'와 같은 결론 → 서로 교차 검증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학습 실험 &amp; 프로토타입 — 이근목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포기는 없다: 개선 실험 3종 세트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2476" y="1755648"/>
            <a:ext cx="548640" cy="548640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122" y="189829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42316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Copy-Paste 증강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94360" y="2761488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Damage 중심으로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 다양성 확보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36976" y="155448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02252" y="1755648"/>
            <a:ext cx="548640" cy="548640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4898" y="189829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74136" y="242316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 조정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374136" y="2761488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: 비정상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비율 실험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16752" y="155448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82028" y="1755648"/>
            <a:ext cx="548640" cy="548640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4674" y="1898294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53912" y="242316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샘플링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153912" y="2761488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weighted batch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sampling 적용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611880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F0F4F7"/>
          </a:solidFill>
          <a:ln/>
        </p:spPr>
      </p:sp>
      <p:sp>
        <p:nvSpPr>
          <p:cNvPr id="20" name="Text 15"/>
          <p:cNvSpPr/>
          <p:nvPr/>
        </p:nvSpPr>
        <p:spPr>
          <a:xfrm>
            <a:off x="685800" y="36118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4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대비 조사:  </a:t>
            </a:r>
            <a:r>
              <a:rPr lang="en-US" sz="11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RetinaNet(Focal Loss) · Faster R-CNN(FPN) · U-Net/Mask R-CNN · PatchCore/PaDiM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데이터 분석 &amp; 모델 선정 — </a:t>
            </a:r>
            <a:r>
              <a:rPr lang="ko-KR" altLang="en-US" sz="1100" b="1" kern="0" spc="200" dirty="0" err="1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이근목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실험의 반전: “아무것도 안 한 게 1등”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669280" y="146304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Dirt×8 증강 → 역효과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852160" y="190195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내 Dirt 비중 ↑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Damage 학습 신호 희석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669280" y="292608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52160" y="3063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 → 역효과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33649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해상도·기종·결함 패턴 상이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도메인 불일치 = 학습 노이즈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452628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B4A6F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4526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“데이터를 더하면 좋다”는 직관을 실험으로 반증 — 불균형은 서비스 단 가중치로 보정</a:t>
            </a:r>
            <a:endParaRPr lang="en-US" sz="125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06145B-6DE2-02FF-D8C1-918E74108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63" y="1622295"/>
            <a:ext cx="5240417" cy="26167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학습 실험 &amp; 프로토타입 — 이근목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 하나의 프로토타입: FastAPI 웹 데모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883664"/>
            <a:ext cx="512064" cy="512064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05" y="2016801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55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백엔드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71600" y="2103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추론 요청 처리 API 서버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64608" y="1883664"/>
            <a:ext cx="512064" cy="512064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745" y="2016801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755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검사 이력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577840" y="2103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inspection 결과 저장·조회 DB 설계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889504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3218688"/>
            <a:ext cx="512064" cy="512064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505" y="3351825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0906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PDF 리포트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71600" y="343814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폰트 지원 검사 리포트 자동 생성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2889504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64608" y="3218688"/>
            <a:ext cx="512064" cy="512064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745" y="3351825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0906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플릿(Fleet) 대시보드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577840" y="343814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터빈 상태를 한 화면에서 — SPA 구현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452628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B4A6F"/>
          </a:solidFill>
          <a:ln/>
        </p:spPr>
      </p:sp>
      <p:sp>
        <p:nvSpPr>
          <p:cNvPr id="25" name="Text 19"/>
          <p:cNvSpPr/>
          <p:nvPr/>
        </p:nvSpPr>
        <p:spPr>
          <a:xfrm>
            <a:off x="685800" y="4526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코드로만 두지 않았다 — '터빈 여러 대를 한눈에'라는 운영 관점 제시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제품화 전략 &amp; 통합 검증 — 정슬기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“그래서 이걸 어떻게 팔지?” — 제품화 전략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647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0391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결과를 눈으로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확인하는 서비스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7180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7293"/>
                </a:solidFill>
              </a:rPr>
              <a:t>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60020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7647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20391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리포트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20440" y="2468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결과를 문서로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생성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5216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7293"/>
                </a:solidFill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0B4A6F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7647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FD3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20391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추이 모니터링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0" y="2468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시간에 따른 손상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 추적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F0F4F7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566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 전략도 함께 설계:  </a:t>
            </a:r>
            <a:r>
              <a:rPr lang="en-US" sz="11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데이터셋 활용  ·  증강  ·  직접 수집  — PPT/PDF로 문서화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B4A6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526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좋아도 제품이 아니면 의미가 없다 — '예방 정비 서비스'로 방향 정의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제품화 전략 &amp; 통합 검증 — 정슬기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“그래서 얼마나 위험한데?” — 손상도 레벨 기준 설계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938528" cy="1234440"/>
          </a:xfrm>
          <a:prstGeom prst="roundRect">
            <a:avLst>
              <a:gd name="adj" fmla="val 6667"/>
            </a:avLst>
          </a:prstGeom>
          <a:solidFill>
            <a:srgbClr val="2E9E6B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830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Lv1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51176" y="1600200"/>
            <a:ext cx="1938528" cy="1234440"/>
          </a:xfrm>
          <a:prstGeom prst="roundRect">
            <a:avLst>
              <a:gd name="adj" fmla="val 6667"/>
            </a:avLst>
          </a:prstGeom>
          <a:solidFill>
            <a:srgbClr val="D9A23B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51176" y="17830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Lv2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51176" y="228600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필요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45152" y="1600200"/>
            <a:ext cx="1938528" cy="1234440"/>
          </a:xfrm>
          <a:prstGeom prst="roundRect">
            <a:avLst>
              <a:gd name="adj" fmla="val 6667"/>
            </a:avLst>
          </a:prstGeom>
          <a:solidFill>
            <a:srgbClr val="E07B39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45152" y="17830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Lv3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45152" y="228600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계획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39128" y="1600200"/>
            <a:ext cx="1938528" cy="1234440"/>
          </a:xfrm>
          <a:prstGeom prst="roundRect">
            <a:avLst>
              <a:gd name="adj" fmla="val 6667"/>
            </a:avLst>
          </a:prstGeom>
          <a:solidFill>
            <a:srgbClr val="D64545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39128" y="17830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Lv4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39128" y="228600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조치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374136"/>
            <a:ext cx="512064" cy="512064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05" y="3507273"/>
            <a:ext cx="245791" cy="24579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71600" y="32644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가중치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371600" y="356616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손상도 날개 뿌리/끝에 따라 위험도 다르게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63440" y="31089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64608" y="3374136"/>
            <a:ext cx="512064" cy="512064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745" y="3507273"/>
            <a:ext cx="245791" cy="245791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577840" y="32644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급증 감지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577840" y="356616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전일 대비 +50% 이상 증가 시 등급 자동 상향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57200" y="452628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B4A6F"/>
          </a:solidFill>
          <a:ln/>
        </p:spPr>
      </p:sp>
      <p:sp>
        <p:nvSpPr>
          <p:cNvPr id="27" name="Text 23"/>
          <p:cNvSpPr/>
          <p:nvPr/>
        </p:nvSpPr>
        <p:spPr>
          <a:xfrm>
            <a:off x="685800" y="4526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Damage/Dirt 분리 임계값 Lv1~4를 코드로 작성 — 서비스 4단계 등급 체계의 밑그림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제품화 전략 &amp; 통합 검증 — 정슬기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엔드투엔드 통합 검증: 진짜 울리는 알람 🔔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476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441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 추론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59152" y="2240280"/>
            <a:ext cx="283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70048" y="169164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61488" y="19476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 판정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61488" y="2441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Lv1~4 산정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283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82896" y="169164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74336" y="19476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ntfy 알림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74336" y="2441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발송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84848" y="2240280"/>
            <a:ext cx="283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95744" y="169164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F96167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87184" y="19476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 실제 수신!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187184" y="2441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E3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Lv2 · Lv3 알람 확인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868680"/>
          </a:xfrm>
          <a:prstGeom prst="roundRect">
            <a:avLst>
              <a:gd name="adj" fmla="val 7368"/>
            </a:avLst>
          </a:prstGeom>
          <a:solidFill>
            <a:srgbClr val="F0F4F7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3832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조각을 하나의 통합 Colab 노트북으로 연결  —  </a:t>
            </a:r>
            <a:r>
              <a:rPr lang="en-US" sz="11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파이프라인이 '진짜 돌아간다'는 첫 증명. 터빈 샘플 영상 분석 중 제 폰에서 실제 경보가 울렸습니다.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제품화 전략 &amp; 통합 검증 — 정슬기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테스트하며 발견한 것: 도메인의 벽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2148840"/>
          </a:xfrm>
          <a:prstGeom prst="roundRect">
            <a:avLst>
              <a:gd name="adj" fmla="val 3830"/>
            </a:avLst>
          </a:prstGeom>
          <a:solidFill>
            <a:srgbClr val="FDECE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8308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801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YouTube 터빈 영상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3232" y="2267712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결과: 실패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데이터와 다른 촬영 환경에선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무력하다는 한계(도메인 불일치)를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확인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554480"/>
            <a:ext cx="4023360" cy="2148840"/>
          </a:xfrm>
          <a:prstGeom prst="roundRect">
            <a:avLst>
              <a:gd name="adj" fmla="val 3830"/>
            </a:avLst>
          </a:prstGeom>
          <a:solidFill>
            <a:srgbClr val="EAF7F0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78308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801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만든 테스트 데이터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19472" y="2267712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val 데이터셋 기반 테스트 영상 제작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 이미지/영상 생성 도구로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손상·오염 샘플 제작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검증 가능한 시연 환경 확보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97764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B4A6F"/>
          </a:solidFill>
          <a:ln/>
        </p:spPr>
      </p:sp>
      <p:sp>
        <p:nvSpPr>
          <p:cNvPr id="13" name="Text 9"/>
          <p:cNvSpPr/>
          <p:nvPr/>
        </p:nvSpPr>
        <p:spPr>
          <a:xfrm>
            <a:off x="685800" y="39776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채진현 파트의 '외부 데이터 도메인 불일치'를 제품 관점에서 재확인 — 팀의 교차 검증 ②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제품화 전략 &amp; 통합 검증 — 정슬기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팀의 윤활유: 피드백이 기능으로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91640"/>
            <a:ext cx="502920" cy="502920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" y="18223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642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“결과가 폰으로 와야 진짜죠”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197510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ntfy 모바일 푸시 알림 기능으로 반영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46888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606040"/>
            <a:ext cx="502920" cy="502920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" y="27367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5786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“지난 점검도 다시 볼 수 있어야”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371600" y="288950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히스토리 불러오기·삭제 기능으로 반영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38328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3520440"/>
            <a:ext cx="502920" cy="502920"/>
          </a:xfrm>
          <a:prstGeom prst="ellipse">
            <a:avLst/>
          </a:prstGeom>
          <a:solidFill>
            <a:srgbClr val="0B4A6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64845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4930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준비 · 팀 정리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71600" y="380390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Colab에서 팀 저장소 clone→앱 실행 디버깅 · 노션 정리 · 발표 자료 제작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452628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B4A6F"/>
          </a:solidFill>
          <a:ln/>
        </p:spPr>
      </p:sp>
      <p:sp>
        <p:nvSpPr>
          <p:cNvPr id="20" name="Text 15"/>
          <p:cNvSpPr/>
          <p:nvPr/>
        </p:nvSpPr>
        <p:spPr>
          <a:xfrm>
            <a:off x="685800" y="4526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만들고 → 검증하고 → 피드백하는 순환, 그것이 우리 팀의 작동 방식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서비스 구현 &amp; 시연 — 강경수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기능표는 곧 우리 팀의 회의록입니다</a:t>
            </a:r>
            <a:endParaRPr lang="en-US" sz="27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3774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피드백 출처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탄생한 기능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회의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 에스컬레이션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등급별 알림 채널·대상 차등 (알림 피로 방지)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정슬기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ntfy 모바일 푸시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 폰으로 실제 발송, 위험 등급 자동 발송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정슬기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히스토리 불러오기·삭제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점검 기록 선택·복원, 테스트 기록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이근목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동영상 분석·타임랩스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 샘플링 → 최고 위험 프레임 → 타임랩스 재생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34340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B4A6F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43434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단계에서도 팀 피드백으로 계속 진화 — 누가 어떤 의견을 줬는지가 기능에 남아 있다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서비스 구현 &amp; 시연 — 강경수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오탐과의 전쟁: 신뢰도 3구간 판정 설계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743200" cy="777240"/>
          </a:xfrm>
          <a:prstGeom prst="rect">
            <a:avLst/>
          </a:prstGeom>
          <a:solidFill>
            <a:srgbClr val="C6CD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09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 40% 미만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제외 (오탐 방지)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600200"/>
            <a:ext cx="2743200" cy="777240"/>
          </a:xfrm>
          <a:prstGeom prst="rect">
            <a:avLst/>
          </a:prstGeom>
          <a:solidFill>
            <a:srgbClr val="D9A23B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709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 ~ 70%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재확인 플래그 → 사람이 확인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1600200"/>
            <a:ext cx="2743200" cy="777240"/>
          </a:xfrm>
          <a:prstGeom prst="rect">
            <a:avLst/>
          </a:prstGeom>
          <a:solidFill>
            <a:srgbClr val="0B4A6F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709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 이상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판정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2834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 공식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1272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가중치 × 탐지 면적 × 신뢰도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520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Damage 가중치 = 10 (Dirt의 5배) — 채진현의 지표 설계에서 이식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97880" y="2724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4단계 등급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97880" y="3063240"/>
            <a:ext cx="1325880" cy="43891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306324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42632" y="3063240"/>
            <a:ext cx="1325880" cy="438912"/>
          </a:xfrm>
          <a:prstGeom prst="roundRect">
            <a:avLst>
              <a:gd name="adj" fmla="val 50000"/>
            </a:avLst>
          </a:prstGeom>
          <a:solidFill>
            <a:srgbClr val="D9A23B"/>
          </a:solidFill>
          <a:ln/>
        </p:spPr>
      </p:sp>
      <p:sp>
        <p:nvSpPr>
          <p:cNvPr id="21" name="Text 19"/>
          <p:cNvSpPr/>
          <p:nvPr/>
        </p:nvSpPr>
        <p:spPr>
          <a:xfrm>
            <a:off x="7342632" y="306324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897880" y="3611880"/>
            <a:ext cx="1325880" cy="438912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/>
        </p:spPr>
      </p:sp>
      <p:sp>
        <p:nvSpPr>
          <p:cNvPr id="23" name="Text 21"/>
          <p:cNvSpPr/>
          <p:nvPr/>
        </p:nvSpPr>
        <p:spPr>
          <a:xfrm>
            <a:off x="5897880" y="361188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42632" y="3611880"/>
            <a:ext cx="1325880" cy="438912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</p:sp>
      <p:sp>
        <p:nvSpPr>
          <p:cNvPr id="25" name="Text 23"/>
          <p:cNvSpPr/>
          <p:nvPr/>
        </p:nvSpPr>
        <p:spPr>
          <a:xfrm>
            <a:off x="7342632" y="361188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34340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B4A6F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3434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약점(Damage)을 알기에 — 애매한 탐지는 사람이 재확인하도록 제품이 받쳐주는 구조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서비스 구현 &amp; 시연 — 강경수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관리자의 하루를 담은 대시보드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1115568"/>
          </a:xfrm>
          <a:prstGeom prst="roundRect">
            <a:avLst>
              <a:gd name="adj" fmla="val 6557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810512"/>
            <a:ext cx="512064" cy="512064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05" y="1943649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916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점검 브리핑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202082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요약 + 우선 권장 작업 4가지 자동 생성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508760"/>
            <a:ext cx="4023360" cy="1115568"/>
          </a:xfrm>
          <a:prstGeom prst="roundRect">
            <a:avLst>
              <a:gd name="adj" fmla="val 6557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64608" y="1810512"/>
            <a:ext cx="512064" cy="512064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745" y="1943649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6916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점검 대비 비교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577840" y="202082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위험도·Damage/Dirt 변화 추적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770632"/>
            <a:ext cx="4023360" cy="1115568"/>
          </a:xfrm>
          <a:prstGeom prst="roundRect">
            <a:avLst>
              <a:gd name="adj" fmla="val 6557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3072384"/>
            <a:ext cx="512064" cy="512064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505" y="3205521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29535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점검 보고서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71600" y="328269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제출용 보고서 즉시 다운로드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2770632"/>
            <a:ext cx="4023360" cy="1115568"/>
          </a:xfrm>
          <a:prstGeom prst="roundRect">
            <a:avLst>
              <a:gd name="adj" fmla="val 6557"/>
            </a:avLst>
          </a:prstGeom>
          <a:solidFill>
            <a:srgbClr val="F5FAFC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64608" y="3072384"/>
            <a:ext cx="512064" cy="512064"/>
          </a:xfrm>
          <a:prstGeom prst="ellipse">
            <a:avLst/>
          </a:prstGeom>
          <a:solidFill>
            <a:srgbClr val="EAF4F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745" y="3205521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29535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점검 이력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577840" y="328269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관리자가 함께 보고, 당시 화면 그대로 복원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420624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B4A6F"/>
          </a:solidFill>
          <a:ln/>
        </p:spPr>
      </p:sp>
      <p:sp>
        <p:nvSpPr>
          <p:cNvPr id="25" name="Text 19"/>
          <p:cNvSpPr/>
          <p:nvPr/>
        </p:nvSpPr>
        <p:spPr>
          <a:xfrm>
            <a:off x="685800" y="42062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동영상은 최고 위험 프레임 자동 탐색 + 타임랩스 재생 — '오늘 뭐부터 볼지' 바로 아는 화면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4A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C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서비스 구현 &amp; 시연 — 강경수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라이브 시연 — 말보다 화면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377440" cy="1463040"/>
          </a:xfrm>
          <a:prstGeom prst="roundRect">
            <a:avLst>
              <a:gd name="adj" fmla="val 5625"/>
            </a:avLst>
          </a:prstGeom>
          <a:solidFill>
            <a:srgbClr val="0E5A8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normal.png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23317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🟢 정상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99232" y="2240280"/>
            <a:ext cx="356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FC3D9"/>
                </a:solidFill>
              </a:rPr>
              <a:t>▶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29000" y="1645920"/>
            <a:ext cx="2377440" cy="1463040"/>
          </a:xfrm>
          <a:prstGeom prst="roundRect">
            <a:avLst>
              <a:gd name="adj" fmla="val 5625"/>
            </a:avLst>
          </a:prstGeom>
          <a:solidFill>
            <a:srgbClr val="0E5A85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dirt.png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23317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🟡 관찰/주의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79592" y="2240280"/>
            <a:ext cx="356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FC3D9"/>
                </a:solidFill>
              </a:rPr>
              <a:t>▶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2377440" cy="1463040"/>
          </a:xfrm>
          <a:prstGeom prst="roundRect">
            <a:avLst>
              <a:gd name="adj" fmla="val 5625"/>
            </a:avLst>
          </a:prstGeom>
          <a:solidFill>
            <a:srgbClr val="0E5A8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damage.png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20840" y="23317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🔴 위험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291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E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등급이 올라갈수록  →  권장 조치와 알림 정책이 달라집니다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88720" y="3794760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F96167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71600" y="37947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동영상 타임랩스 1건  ·  이력 불러오기 1회  ·  위험 등급 → 📱 자동 푸시가 실제 폰에 도착!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4A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C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일지의 다음 페이지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2286000"/>
          </a:xfrm>
          <a:prstGeom prst="roundRect">
            <a:avLst>
              <a:gd name="adj" fmla="val 3600"/>
            </a:avLst>
          </a:prstGeom>
          <a:solidFill>
            <a:srgbClr val="0E5A8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27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정직한 한계 🧾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6EA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Damage Recall — 여전한 최우선 과제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6EA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일반화 — 다른 환경에선 취약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6EA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저장 — 로컬 파일 기반 (재배포 시 초기화)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627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Damage 증강 전략 고도화 + 대안 모델 벤치마크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DB 기반 이력 영구 저장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자동 업로드 · GPS 터빈 위치 연동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한계를 알고 → 실험으로 검증하고 → 설계로 보완했습니다.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D3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 — TEAM 2 · 나의 터빈일지 🌪️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2121</Words>
  <Application>Microsoft Office PowerPoint</Application>
  <PresentationFormat>화면 슬라이드 쇼(16:9)</PresentationFormat>
  <Paragraphs>348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Malgun Gothic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나의 터빈일지</dc:title>
  <dc:subject>PptxGenJS Presentation</dc:subject>
  <dc:creator>Team 2</dc:creator>
  <cp:lastModifiedBy>chaejin1126@gmail.com</cp:lastModifiedBy>
  <cp:revision>7</cp:revision>
  <dcterms:created xsi:type="dcterms:W3CDTF">2026-07-02T07:55:21Z</dcterms:created>
  <dcterms:modified xsi:type="dcterms:W3CDTF">2026-07-02T11:23:10Z</dcterms:modified>
</cp:coreProperties>
</file>